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 %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0.19</c:v>
                </c:pt>
                <c:pt idx="2">
                  <c:v>1.54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Appliances</c:v>
                  </c:pt>
                  <c:pt idx="1">
                    <c:v>Lifestyle</c:v>
                  </c:pt>
                  <c:pt idx="2">
                    <c:v>Office Tech</c:v>
                  </c:pt>
                  <c:pt idx="3">
                    <c:v>Electronics</c:v>
                  </c:pt>
                  <c:pt idx="4">
                    <c:v>Unknown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9.5</c:v>
                </c:pt>
                <c:pt idx="2">
                  <c:v>8.9</c:v>
                </c:pt>
                <c:pt idx="3">
                  <c:v>8.8</c:v>
                </c:pt>
                <c:pt idx="4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Appliances</c:v>
                  </c:pt>
                  <c:pt idx="1">
                    <c:v>Lifestyle</c:v>
                  </c:pt>
                  <c:pt idx="2">
                    <c:v>Office Tech</c:v>
                  </c:pt>
                  <c:pt idx="3">
                    <c:v>Electronics</c:v>
                  </c:pt>
                  <c:pt idx="4">
                    <c:v>Unknown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2.54</c:v>
                </c:pt>
                <c:pt idx="1">
                  <c:v>2.4</c:v>
                </c:pt>
                <c:pt idx="2">
                  <c:v>2.21</c:v>
                </c:pt>
                <c:pt idx="3">
                  <c:v>2.13</c:v>
                </c:pt>
                <c:pt idx="4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Discounted GP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Appliances</c:v>
                  </c:pt>
                  <c:pt idx="1">
                    <c:v>Lifestyle</c:v>
                  </c:pt>
                  <c:pt idx="2">
                    <c:v>Office Tech</c:v>
                  </c:pt>
                  <c:pt idx="3">
                    <c:v>Electronics</c:v>
                  </c:pt>
                  <c:pt idx="4">
                    <c:v>Unknown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2.46</c:v>
                </c:pt>
                <c:pt idx="1">
                  <c:v>2.34</c:v>
                </c:pt>
                <c:pt idx="2">
                  <c:v>2.17</c:v>
                </c:pt>
                <c:pt idx="3">
                  <c:v>2.09</c:v>
                </c:pt>
                <c:pt idx="4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Non-Discounted GP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Appliances</c:v>
                  </c:pt>
                  <c:pt idx="1">
                    <c:v>Lifestyle</c:v>
                  </c:pt>
                  <c:pt idx="2">
                    <c:v>Office Tech</c:v>
                  </c:pt>
                  <c:pt idx="3">
                    <c:v>Electronics</c:v>
                  </c:pt>
                  <c:pt idx="4">
                    <c:v>Unknown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0.08</c:v>
                </c:pt>
                <c:pt idx="1">
                  <c:v>0.06</c:v>
                </c:pt>
                <c:pt idx="2">
                  <c:v>0.03</c:v>
                </c:pt>
                <c:pt idx="3">
                  <c:v>0.05</c:v>
                </c:pt>
                <c:pt idx="4">
                  <c:v>0.01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Leakage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 Appliances</c:v>
                  </c:pt>
                  <c:pt idx="1">
                    <c:v>Lifestyle</c:v>
                  </c:pt>
                  <c:pt idx="2">
                    <c:v>Office Tech</c:v>
                  </c:pt>
                  <c:pt idx="3">
                    <c:v>Electronics</c:v>
                  </c:pt>
                  <c:pt idx="4">
                    <c:v>Unknown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2.4</c:v>
                </c:pt>
                <c:pt idx="2">
                  <c:v>2.3</c:v>
                </c:pt>
                <c:pt idx="3">
                  <c:v>2.2</c:v>
                </c:pt>
                <c:pt idx="4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Bronze</c:v>
                  </c:pt>
                  <c:pt idx="1">
                    <c:v>Gold</c:v>
                  </c:pt>
                  <c:pt idx="2">
                    <c:v>Silver</c:v>
                  </c:pt>
                  <c:pt idx="3">
                    <c:v>VIP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1286</c:v>
                </c:pt>
                <c:pt idx="1">
                  <c:v>1244</c:v>
                </c:pt>
                <c:pt idx="2">
                  <c:v>1235</c:v>
                </c:pt>
                <c:pt idx="3">
                  <c:v>1235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Loyalty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C38"/>
              </a:solidFill>
              <a:effectLst/>
            </c:spPr>
          </c:dPt>
          <c:dPt>
            <c:idx val="1"/>
            <c:bubble3D val="0"/>
            <c:spPr>
              <a:solidFill>
                <a:srgbClr val="AADDB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Loyalty Members</c:v>
                </c:pt>
                <c:pt idx="1">
                  <c:v>Non-Members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2469</c:v>
                </c:pt>
                <c:pt idx="1">
                  <c:v>2531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C38"/>
              </a:solidFill>
              <a:effectLst/>
            </c:spPr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49.68</c:v>
                </c:pt>
                <c:pt idx="1">
                  <c:v>50.32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(£M)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Marketplace</c:v>
                  </c:pt>
                  <c:pt idx="2">
                    <c:v>Store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18.5</c:v>
                </c:pt>
                <c:pt idx="1">
                  <c:v>9.6</c:v>
                </c:pt>
                <c:pt idx="2">
                  <c:v>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(£M)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Marketplace</c:v>
                  </c:pt>
                  <c:pt idx="2">
                    <c:v>Store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4.6</c:v>
                </c:pt>
                <c:pt idx="1">
                  <c:v>2.4</c:v>
                </c:pt>
                <c:pt idx="2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A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Store</c:v>
                  </c:pt>
                  <c:pt idx="2">
                    <c:v>Marketplace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8300</c:v>
                </c:pt>
                <c:pt idx="1">
                  <c:v>4300</c:v>
                </c:pt>
                <c:pt idx="2">
                  <c:v>4300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4503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LTD.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29184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14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 &amp;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Profitability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Work Experience Programme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Amdari | June–July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2194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Report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findings and recommendations derived from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sales transactions across 2023–2025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3749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4503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£37.61M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431596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95160" y="3749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45030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£9.38M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431596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0" y="3749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45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431596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378440" y="374904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1450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37844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84.18%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78440" y="431596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0" y="62179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report is based on a synthetically generated dataset used for analytical training purposes.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4FAF6"/>
          </a:solidFill>
          <a:ln w="10160">
            <a:solidFill>
              <a:srgbClr val="1A5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502920" cy="822960"/>
          </a:xfrm>
          <a:prstGeom prst="rect">
            <a:avLst>
              <a:gd name="adj" fmla="val 14545"/>
            </a:avLst>
          </a:prstGeom>
          <a:solidFill>
            <a:srgbClr val="1A5C3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887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28016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59105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context, objectives and dataset summary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4FAF6"/>
          </a:solidFill>
          <a:ln w="10160">
            <a:solidFill>
              <a:srgbClr val="1A5C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188720"/>
            <a:ext cx="502920" cy="822960"/>
          </a:xfrm>
          <a:prstGeom prst="rect">
            <a:avLst>
              <a:gd name="adj" fmla="val 14545"/>
            </a:avLst>
          </a:prstGeom>
          <a:solidFill>
            <a:srgbClr val="1A5C3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28016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159105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growth trends and category contributions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194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4FAF6"/>
          </a:solidFill>
          <a:ln w="10160">
            <a:solidFill>
              <a:srgbClr val="1A5C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194560"/>
            <a:ext cx="502920" cy="822960"/>
          </a:xfrm>
          <a:prstGeom prst="rect">
            <a:avLst>
              <a:gd name="adj" fmla="val 14545"/>
            </a:avLst>
          </a:prstGeom>
          <a:solidFill>
            <a:srgbClr val="1A5C3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1945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28600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Discount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59689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utilisation, revenue leakage and margin impact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2194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4FAF6"/>
          </a:solidFill>
          <a:ln w="10160">
            <a:solidFill>
              <a:srgbClr val="1A5C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194560"/>
            <a:ext cx="502920" cy="822960"/>
          </a:xfrm>
          <a:prstGeom prst="rect">
            <a:avLst>
              <a:gd name="adj" fmla="val 14545"/>
            </a:avLst>
          </a:prstGeom>
          <a:solidFill>
            <a:srgbClr val="1A5C3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1945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28600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259689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segmentation, lifetime value and purchase behaviour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4FAF6"/>
          </a:solidFill>
          <a:ln w="10160">
            <a:solidFill>
              <a:srgbClr val="1A5C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00400"/>
            <a:ext cx="502920" cy="822960"/>
          </a:xfrm>
          <a:prstGeom prst="rect">
            <a:avLst>
              <a:gd name="adj" fmla="val 14545"/>
            </a:avLst>
          </a:prstGeom>
          <a:solidFill>
            <a:srgbClr val="1A5C3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2004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329184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Performance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60273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Store and Marketplace comparison and store profitability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320040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4FAF6"/>
          </a:solidFill>
          <a:ln w="10160">
            <a:solidFill>
              <a:srgbClr val="1A5C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3200400"/>
            <a:ext cx="502920" cy="822960"/>
          </a:xfrm>
          <a:prstGeom prst="rect">
            <a:avLst>
              <a:gd name="adj" fmla="val 14545"/>
            </a:avLst>
          </a:prstGeom>
          <a:solidFill>
            <a:srgbClr val="1A5C38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2004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329184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03720" y="360273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critical analytical findings from the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2062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4FAF6"/>
          </a:solidFill>
          <a:ln w="10160">
            <a:solidFill>
              <a:srgbClr val="1A5C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206240"/>
            <a:ext cx="502920" cy="822960"/>
          </a:xfrm>
          <a:prstGeom prst="rect">
            <a:avLst>
              <a:gd name="adj" fmla="val 14545"/>
            </a:avLst>
          </a:prstGeom>
          <a:solidFill>
            <a:srgbClr val="1A5C38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206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4297680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0120" y="4608576"/>
            <a:ext cx="4892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actionable recommendations with business impact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and analytical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" y="1143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 lacked a centralised analytical framework to understand customer profitability, discount impact, channel performance and revenue trends. Reporting was fragmented across systems, preventing data-driven decision-making.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23774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201168" cy="201168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157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 Analytics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201168" cy="201168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186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 &amp; Segmentation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01168" cy="201168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216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Performance Evaluation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201168" cy="201168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245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Discount Effectiveness Assessment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754880"/>
            <a:ext cx="201168" cy="201168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274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Intelligence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14300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37376" y="1143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481328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57276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52560" y="157276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rows | Fact Table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139696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2311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52560" y="22311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rows | Dimension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798064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8895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52560" y="28895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| Dimension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456432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5478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52560" y="354787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 | Dimension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411480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206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52560" y="42062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Dec 2025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484632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4846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Limitations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09360" y="5166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Profit excluded — no operating expense data available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1.15% of transactions linked to unmatched Product IDs (labelled 'Unknown Product')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25% of customer regions missing (labelled 'Unknown')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is synthetic — findings are illustrative, not real business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 across 2023–2025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7043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389888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£37.61M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175564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transactions only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0" y="1097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17043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18688" y="1389888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£28.23M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18688" y="175564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52160" y="1097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117043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61888" y="1389888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£9.38M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61888" y="175564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minus cost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595360" y="10972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5088" y="117043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Margin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05088" y="1389888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24.95%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05088" y="1755648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retained per £1 revenue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Rate (Year-on-Year)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65760" y="2578608"/>
          <a:ext cx="53035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612648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6"/>
          <p:cNvSpPr/>
          <p:nvPr/>
        </p:nvSpPr>
        <p:spPr>
          <a:xfrm>
            <a:off x="625449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Gross Profit by Category</a:t>
            </a:r>
            <a:endParaRPr lang="en-US" sz="12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6126480" y="2578608"/>
          <a:ext cx="56692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 27"/>
          <p:cNvSpPr/>
          <p:nvPr/>
        </p:nvSpPr>
        <p:spPr>
          <a:xfrm>
            <a:off x="365760" y="49377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Revenue growth is modest across all three years (max 1.54% in 2025), suggesting a largely stable but slowly growing business. Home Appliances leads both revenue and gross profit contribution.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Discount Effectiveness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utilisation, revenue leakage and margin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704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Utilisation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3898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17556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completed transactions discounted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1704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01568" y="13898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£9.43M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1568" y="17556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revenue lost to discounts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1704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Gross Profit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27648" y="13898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£9.15M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27648" y="17556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from discounted transactions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144000" y="109728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3728" y="11704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Non-Discounted Gross Profit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53728" y="1389888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£229.89K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53728" y="175564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from full-price transactions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vs Non-Discounted Gross Profit by Category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65760" y="2578608"/>
          <a:ext cx="5669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630936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6"/>
          <p:cNvSpPr/>
          <p:nvPr/>
        </p:nvSpPr>
        <p:spPr>
          <a:xfrm>
            <a:off x="643737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by Category (£M)</a:t>
            </a:r>
            <a:endParaRPr lang="en-US" sz="12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6309360" y="2578608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Shape 27"/>
          <p:cNvSpPr/>
          <p:nvPr/>
        </p:nvSpPr>
        <p:spPr>
          <a:xfrm>
            <a:off x="365760" y="5120640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FF8E6"/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5212080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Finding: Revenue leakage of £9.43M nearly equals total gross profit of £9.38M. RetailMax is discounting away the equivalent of its entire profit margin. If discounting were reduced by even 30%, gross profit could increase by approximately £2.8M.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segmentation and lifetime value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70432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38988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1755648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records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0" y="109728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170432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52928" y="138988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52928" y="1755648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completed purchases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0" y="10972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117043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30368" y="138988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84.18%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30368" y="1755648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repeat purchase base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89520" y="109728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1170432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 / Customer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99248" y="1389888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99248" y="1755648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behaviour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66960" y="10972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76688" y="117043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Customer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76688" y="1389888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£7.52K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76688" y="1755648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spending level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Gross Profit by Segment</a:t>
            </a:r>
            <a:endParaRPr lang="en-US" sz="12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365760" y="2578608"/>
          <a:ext cx="5394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594360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Text 30"/>
          <p:cNvSpPr/>
          <p:nvPr/>
        </p:nvSpPr>
        <p:spPr>
          <a:xfrm>
            <a:off x="607161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Gender Distribution</a:t>
            </a:r>
            <a:endParaRPr lang="en-US" sz="1200" dirty="0"/>
          </a:p>
        </p:txBody>
      </p:sp>
      <p:graphicFrame>
        <p:nvGraphicFramePr>
          <p:cNvPr id="34" name="Chart 1" descr=""/>
          <p:cNvGraphicFramePr/>
          <p:nvPr/>
        </p:nvGraphicFramePr>
        <p:xfrm>
          <a:off x="5943600" y="2578608"/>
          <a:ext cx="28346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5" name="Chart 2" descr=""/>
          <p:cNvGraphicFramePr/>
          <p:nvPr/>
        </p:nvGraphicFramePr>
        <p:xfrm>
          <a:off x="8961120" y="2578608"/>
          <a:ext cx="28346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" name="Text 31"/>
          <p:cNvSpPr/>
          <p:nvPr/>
        </p:nvSpPr>
        <p:spPr>
          <a:xfrm>
            <a:off x="365760" y="4754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 Customer segments are almost evenly distributed (synthetic data characteristic). The 84.18% retention rate is strong, suggesting the loyalty programme has some effectiveness. Gender split is near-equal at 50/50. Midlands region leads customer concentration.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Store and Marketplace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70432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Revenue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389888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£18.51M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" y="1755648"/>
            <a:ext cx="3346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50.11% of total revenue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0" y="10972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170432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24528" y="1389888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£9.58M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24528" y="1755648"/>
            <a:ext cx="3346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25.02% of total revenue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63840" y="10972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4FAF6"/>
          </a:solidFill>
          <a:ln w="15240">
            <a:solidFill>
              <a:srgbClr val="1A5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1170432"/>
            <a:ext cx="3346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Revenue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73568" y="1389888"/>
            <a:ext cx="3346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£9.52M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73568" y="1755648"/>
            <a:ext cx="3346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24.87% of total revenue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Gross Profit by Channel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65760" y="2578608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035040" y="2240280"/>
            <a:ext cx="54864" cy="2926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2"/>
          <p:cNvSpPr/>
          <p:nvPr/>
        </p:nvSpPr>
        <p:spPr>
          <a:xfrm>
            <a:off x="6163056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Transactions by Channel</a:t>
            </a:r>
            <a:endParaRPr lang="en-US" sz="12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6035040" y="2578608"/>
          <a:ext cx="5760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Online channel dominates across all metrics — revenue, gross profit and transaction volume. It processes nearly double the transactions of Store or Marketplace individually, making it the highest-priority channel for investment and optimisation.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critical findings from the RetailMax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5577840" cy="1664208"/>
          </a:xfrm>
          <a:prstGeom prst="roundRect">
            <a:avLst>
              <a:gd name="adj" fmla="val 4396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52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Crisis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618488"/>
            <a:ext cx="53035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of £9.43M is nearly equal to total gross profit of £9.38M. RetailMax is discounting away the equivalent of its entire profit margin across all completed transactions.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5577840" cy="1664208"/>
          </a:xfrm>
          <a:prstGeom prst="roundRect">
            <a:avLst>
              <a:gd name="adj" fmla="val 4396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252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12527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Near-Universal Discounting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618488"/>
            <a:ext cx="53035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98.71% of all completed transactions include a discount. Only 1.29% of sales occur at full price, generating just £229.89K of gross profit — a fraction of the £9.15M from discounted sales.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53512"/>
            <a:ext cx="5577840" cy="1664208"/>
          </a:xfrm>
          <a:prstGeom prst="roundRect">
            <a:avLst>
              <a:gd name="adj" fmla="val 4396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0632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 Dominance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29000"/>
            <a:ext cx="53035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channel accounts for 50.11% of total revenue and processes approximately double the transactions of Store or Marketplace individually. It is by far the most commercially significant channel.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953512"/>
            <a:ext cx="5577840" cy="1664208"/>
          </a:xfrm>
          <a:prstGeom prst="roundRect">
            <a:avLst>
              <a:gd name="adj" fmla="val 4396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30632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Retention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429000"/>
            <a:ext cx="53035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84.18% of customers have made 2 or more completed purchases, with an average of 3.38 purchases per customer. This indicates a loyal customer base that responds to repeat engagement.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764024"/>
            <a:ext cx="5577840" cy="1664208"/>
          </a:xfrm>
          <a:prstGeom prst="roundRect">
            <a:avLst>
              <a:gd name="adj" fmla="val 4396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73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8737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Revenue Growth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239512"/>
            <a:ext cx="53035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by only 0.19% in 2024 and 1.54% in 2025. Despite strong retention and high transaction volumes, top-line revenue growth is minimal — likely suppressed by aggressive discounting.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4764024"/>
            <a:ext cx="5577840" cy="1664208"/>
          </a:xfrm>
          <a:prstGeom prst="roundRect">
            <a:avLst>
              <a:gd name="adj" fmla="val 4396"/>
            </a:avLst>
          </a:prstGeom>
          <a:solidFill>
            <a:srgbClr val="F4FAF6"/>
          </a:solidFill>
          <a:ln w="10160">
            <a:solidFill>
              <a:srgbClr val="CCDD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873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🏪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8737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Category Performance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5239512"/>
            <a:ext cx="530352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product categories show remarkably similar revenue contributions (23–27%) and gross profit margins. No single category dominates, suggesting a diversified but undifferentiated product strategy.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Group Ltd.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actionable priorities with projected business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Project  |  Confidential  |  Synthetic Dataset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0" y="6601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5577840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9050">
            <a:solidFill>
              <a:srgbClr val="1A5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80160"/>
            <a:ext cx="402336" cy="402336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280160"/>
            <a:ext cx="4773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Discounting 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174650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1929384"/>
            <a:ext cx="5303520" cy="588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tiered discounting — reserve high discounts (15–20%) for loyalty members and high-value segments only. Cap blanket discounts at 5–8% for general transactions. Pilot full-price promotions for new product launches.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218614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2354397"/>
            <a:ext cx="5303520" cy="437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average discount rate by 30% could recover approximately £2.8M in gross profit annually — a potential 30% improvement on current gross profit margins without changing sales volumes.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53512"/>
            <a:ext cx="5577840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9050">
            <a:solidFill>
              <a:srgbClr val="1A5C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090672"/>
            <a:ext cx="402336" cy="402336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3090672"/>
            <a:ext cx="4773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Aggressively in Online Channel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557016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739896"/>
            <a:ext cx="5303520" cy="588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 greater share of marketing and fulfilment budget to the Online channel given its 50% revenue dominance. Optimise the digital customer journey, improve search visibility and invest in personalised online promotions.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39966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4164909"/>
            <a:ext cx="5303520" cy="437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online conversion rate by even 5% would generate approximately £925K in additional revenue based on current online transaction volumes and average transaction values.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764024"/>
            <a:ext cx="5577840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9050">
            <a:solidFill>
              <a:srgbClr val="1A5C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901184"/>
            <a:ext cx="402336" cy="402336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4901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901184"/>
            <a:ext cx="4773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Loyalty Programme for Retention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536752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0352" y="5550408"/>
            <a:ext cx="5303520" cy="588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84.18% retention already strong, focus the loyalty programme on increasing purchase frequency rather than acquisition. Introduce milestone rewards, personalised offers and exclusive early access for VIP and Gold segments.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" y="580717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5975421"/>
            <a:ext cx="5303520" cy="437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average purchases per customer from 3.38 to 4.0 could generate an estimated £3.7M in additional revenue by activating the existing retained customer base more effectively.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1143000"/>
            <a:ext cx="5577840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9050">
            <a:solidFill>
              <a:srgbClr val="1A5C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3952" y="1280160"/>
            <a:ext cx="402336" cy="402336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67728" y="1280160"/>
            <a:ext cx="4773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Resolve Data Quality Gaps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3952" y="1746504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73952" y="1929384"/>
            <a:ext cx="5303520" cy="588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1.15% of transactions linked to unmatched Product IDs (1001–1010) and the 25% missing customer region data. Work with data owners to populate missing records and enforce referential integrity at the point of data entry.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73952" y="218614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73952" y="2354397"/>
            <a:ext cx="5303520" cy="437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product and regional data directly improves marketing targeting precision, regional sales strategy and category performance reporting — reducing the risk of misallocated budget and missed growth opportunities.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2953512"/>
            <a:ext cx="5577840" cy="1682496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9050">
            <a:solidFill>
              <a:srgbClr val="1A5C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73952" y="3090672"/>
            <a:ext cx="402336" cy="402336"/>
          </a:xfrm>
          <a:prstGeom prst="ellipse">
            <a:avLst/>
          </a:prstGeom>
          <a:solidFill>
            <a:srgbClr val="1A5C38"/>
          </a:solidFill>
          <a:ln/>
        </p:spPr>
      </p:sp>
      <p:sp>
        <p:nvSpPr>
          <p:cNvPr id="43" name="Text 41"/>
          <p:cNvSpPr/>
          <p:nvPr/>
        </p:nvSpPr>
        <p:spPr>
          <a:xfrm>
            <a:off x="6473952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67728" y="3090672"/>
            <a:ext cx="4773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Category Pricing Strategy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73952" y="3557016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73952" y="3739896"/>
            <a:ext cx="5303520" cy="5888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currently show near-identical revenue contributions and margins. Conduct a pricing review to identify premium pricing opportunities — particularly in Electronics and Home Appliances — where brand value may support higher margins.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73952" y="399666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73952" y="4164909"/>
            <a:ext cx="5303520" cy="4374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3% margin improvement in the two highest-revenue categories (Home Appliances and Lifestyle) could add approximately £585K to annual gross profit without requiring additional transaction volume.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5C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45030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16459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120640" y="25146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 Revenue Intelligence &amp; Customer Profitability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3108960"/>
            <a:ext cx="621792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3730752"/>
            <a:ext cx="182880" cy="18288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3703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nearly equals gross profit — discounting strategy requires urgent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4261104"/>
            <a:ext cx="182880" cy="18288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42336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channel is the primary revenue driver and warrants prioritised investment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4791456"/>
            <a:ext cx="182880" cy="18288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476402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is strong — opportunity to increase purchase frequency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5321808"/>
            <a:ext cx="182880" cy="18288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529437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improvements will sharpen analytical accuracy and decision confidence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62179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David  |  Amdari Work Experience Programme  |  June–July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RetailMax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Ltd.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Report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–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2026-07-10T03:53:59Z</dcterms:created>
  <dcterms:modified xsi:type="dcterms:W3CDTF">2026-07-10T03:53:59Z</dcterms:modified>
</cp:coreProperties>
</file>